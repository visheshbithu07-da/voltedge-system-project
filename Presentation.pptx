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71" r:id="rId4"/>
    <p:sldId id="270" r:id="rId5"/>
    <p:sldId id="272" r:id="rId6"/>
    <p:sldId id="273" r:id="rId7"/>
    <p:sldId id="257" r:id="rId8"/>
    <p:sldId id="274" r:id="rId9"/>
    <p:sldId id="263" r:id="rId10"/>
    <p:sldId id="262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A326-47BF-6893-FEC3-60D783996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E0800-58F9-7399-F0EF-052222D56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D124-42AC-0664-0A23-AFA19EF7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887C-E992-B56B-2B71-2C7E9C82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BA23A-EED9-BE3B-AC9C-7B47D47C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08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8C65-78AF-0B27-AD4B-05BE1770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84A5-9165-FCF5-8607-A85D27344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1FA2-C7C3-313A-E744-77767398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54CE2-BD20-DDFC-040A-DAF28145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BFCB-8DE8-10AA-30D1-B350D51E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46BA-051C-E764-D2A7-2E5DE2B9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C4643-7FCF-82F5-8CC4-62F286945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1D228-EF30-D1A9-55A9-141246D0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AB3E-915E-3759-B490-DD99F03F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E1438-B726-E2B1-FB2D-37ECC117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83C8-9C65-3390-5B55-30FE4EB6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570C-2FA3-A1B7-B2AB-CFAC444CC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397DD-A98A-3424-F5AA-A615B0784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74EFB-2CE5-C020-404B-07BF1BC80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095F2-1537-984C-0F86-6A5B51BA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42BB0-9E74-93A5-25B9-106B5751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00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7DFD-984F-432C-2314-3D67F4CD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30AB9-99F1-9FD5-FE61-1351208B9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3CB99-503F-F633-059F-6FDFABD4E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3C3FA-0A9F-0AB4-963A-AE208AC91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48692-7F3E-F3D5-247A-8F543F7E6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01316-971F-E82C-25C5-06A11611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8C9597-0D1D-B731-5201-99391D0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6DA4E-5623-F7F5-23A3-306736B0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24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670F-BB44-D9B4-F4A7-8AB5B399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0D94D-922C-354C-2980-CA480423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BA29D-2C8A-FA5F-F710-4B4CE4C7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3C0C5-434C-E1D1-CFB9-6D99E75C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8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724AB-E831-2A5F-AD89-0A311D4C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E682D-A62A-8844-DD23-D66DA917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A6EA1-9532-9332-A016-89B34EFB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0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A223-63D3-FB3F-00E5-6A6B6442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6355-49D8-CA2B-EF87-91D1E1DE0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5E614-6686-8436-001D-A1FAAB521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55AE5-31BD-82A3-1101-2199B770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49B3-913F-F475-7F0A-ECD34DC2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F5AE-A6EB-29FC-16F8-65737DB5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1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42F5-0112-15EF-A85B-77BB837D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289CC-0D4D-F3E9-3F03-0854B5B72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D79E6-C639-BF5C-FCEF-4DEBC6BF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0D6FE-7E97-4F39-D38A-3AC07DCF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BCCD5-F62B-BF66-6347-A9A0A089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8252E-A142-BE03-AAA1-D6769E9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4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0C5D-C3E0-FA15-0635-78419D58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8899C-EF49-B180-0187-7FFF4A13C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543F-91AA-1662-B383-C2766B04D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CFE8-6C54-A9ED-8BAD-EA52765A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6BA01-38B2-0737-3996-69ABEB76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48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6013C-915D-2A13-06D3-D549DD8BB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5448D-E05B-9E19-7257-96BDF8657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05179-452B-8852-D3A6-BD5FF177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B2F72-9761-F3E3-EFA0-8707BFFC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96E08-9BAF-C20F-A6DC-C32D8776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185E4-D25F-6BFB-7CC5-3B4AB98B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DC4E-25A1-2708-A2C0-42ABBFDD6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272F-B9FC-2735-8844-9D31E7D5D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C47F0-C83C-42DD-BD51-08DD1662FC6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D5082-3703-9C90-C5C5-7F7981569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2370A-3B00-296A-C295-ED6F7F44C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868DC-DF1A-40F5-9A7F-D0336473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2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6B1F3-B6F0-91A2-02E3-031486CF4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3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13"/>
    </mc:Choice>
    <mc:Fallback>
      <p:transition spd="slow" advTm="257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434771-4C9A-FD9E-010E-4D40DFB2A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3" y="1061707"/>
            <a:ext cx="11002911" cy="4734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BD196B-6958-D639-EA83-95735A2C4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5" y="607647"/>
            <a:ext cx="2229688" cy="3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0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26"/>
    </mc:Choice>
    <mc:Fallback>
      <p:transition spd="slow" advTm="1562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2F332-638A-00F8-1CCC-E551C54C1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58" y="1333207"/>
            <a:ext cx="11136279" cy="4191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6B01E5-6B01-1A45-02BC-0BEF8ED8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3" y="607647"/>
            <a:ext cx="2229688" cy="3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03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91"/>
    </mc:Choice>
    <mc:Fallback>
      <p:transition spd="slow" advTm="999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B6AC9-4D9B-724A-A8B1-A00325BE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" y="1245091"/>
            <a:ext cx="11439525" cy="4367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09CF2C-AD72-944B-AE49-BC44E6C77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2" y="607648"/>
            <a:ext cx="2229692" cy="39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8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15"/>
    </mc:Choice>
    <mc:Fallback>
      <p:transition spd="slow" advTm="961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A4B69-A53C-B2AB-C083-6C3FDE22E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55" y="1176023"/>
            <a:ext cx="11031489" cy="4505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61523F-5D4F-D335-9AEC-0E8B2B725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2" y="607648"/>
            <a:ext cx="2229692" cy="39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62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0"/>
    </mc:Choice>
    <mc:Fallback>
      <p:transition spd="slow" advTm="1016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CAE81-33B4-C000-DA54-D87B0AAB6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76" y="1428471"/>
            <a:ext cx="11088647" cy="4001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5D97A-8AB5-5B1F-AE09-278D29329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6" y="607648"/>
            <a:ext cx="2229688" cy="3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77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26"/>
    </mc:Choice>
    <mc:Fallback>
      <p:transition spd="slow" advTm="83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6B6713-78CA-F690-7649-7AB96F03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18" y="346625"/>
            <a:ext cx="6597364" cy="61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16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02"/>
    </mc:Choice>
    <mc:Fallback>
      <p:transition spd="slow" advTm="1370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142A6-E0EE-880D-1560-B01640B09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309391"/>
            <a:ext cx="11050542" cy="42392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B75DFE-5764-B8BC-3457-55C4E30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55" y="607647"/>
            <a:ext cx="2229688" cy="3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4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385"/>
    </mc:Choice>
    <mc:Fallback>
      <p:transition spd="slow" advTm="17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A2D50-4233-E2ED-50F3-B6E5853CF130}"/>
              </a:ext>
            </a:extLst>
          </p:cNvPr>
          <p:cNvSpPr txBox="1"/>
          <p:nvPr/>
        </p:nvSpPr>
        <p:spPr>
          <a:xfrm>
            <a:off x="265471" y="1720840"/>
            <a:ext cx="95356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Overall average product price</a:t>
            </a:r>
            <a:r>
              <a:rPr lang="en-US" dirty="0"/>
              <a:t>: 356.9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Products exceeding average price</a:t>
            </a:r>
            <a:r>
              <a:rPr lang="en-US" dirty="0"/>
              <a:t>: Several industrial-grade and advanced system components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Category examples</a:t>
            </a:r>
            <a:r>
              <a:rPr lang="en-US" dirty="0"/>
              <a:t>: Control units, IoT gateways, and smart controllers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Specific high-priced products</a:t>
            </a:r>
            <a:r>
              <a:rPr lang="en-US" dirty="0"/>
              <a:t>:</a:t>
            </a:r>
          </a:p>
          <a:p>
            <a:r>
              <a:rPr lang="en-US" dirty="0"/>
              <a:t>IoT Gateway - Industrial (48V)</a:t>
            </a:r>
          </a:p>
          <a:p>
            <a:r>
              <a:rPr lang="en-US" dirty="0"/>
              <a:t>Smart Controller - Industrial (24V)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Pricing pattern</a:t>
            </a:r>
            <a:r>
              <a:rPr lang="en-US" dirty="0"/>
              <a:t>: Higher prices are associated with more complex, industrial-use equipment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E2907A-CA5E-8B4C-601B-9C101874E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580469"/>
            <a:ext cx="32575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38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768"/>
    </mc:Choice>
    <mc:Fallback>
      <p:transition spd="slow" advTm="5376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9A52B-62EF-FF2A-106C-41BB63D53B50}"/>
              </a:ext>
            </a:extLst>
          </p:cNvPr>
          <p:cNvSpPr txBox="1"/>
          <p:nvPr/>
        </p:nvSpPr>
        <p:spPr>
          <a:xfrm>
            <a:off x="176046" y="1720840"/>
            <a:ext cx="807753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Dataset composition</a:t>
            </a:r>
            <a:r>
              <a:rPr lang="en-US" dirty="0"/>
              <a:t>: 396 customers out of 1,489 total customers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Inactive customer rate</a:t>
            </a:r>
            <a:r>
              <a:rPr lang="en-US" dirty="0"/>
              <a:t>: 26.5% have no recorded transactions/orders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Customer status</a:t>
            </a:r>
            <a:r>
              <a:rPr lang="en-US" dirty="0"/>
              <a:t>: Represent untapped or inactive accounts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Specific examples</a:t>
            </a:r>
            <a:r>
              <a:rPr lang="en-US" dirty="0"/>
              <a:t>: Lewis, Vazquez, Hobbs, and Turner Group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Strategic value</a:t>
            </a:r>
            <a:r>
              <a:rPr lang="en-US" dirty="0"/>
              <a:t>: Important for re-engagement strategies and targeted marketing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Business insight</a:t>
            </a:r>
            <a:r>
              <a:rPr lang="en-US" dirty="0"/>
              <a:t>: May indicate potential onboarding issues in the sales funnel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55843-3518-59A2-1612-BB68B145D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2" y="607602"/>
            <a:ext cx="3762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68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492"/>
    </mc:Choice>
    <mc:Fallback>
      <p:transition spd="slow" advTm="3949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1EC7A7-046E-2036-204A-3912478053D8}"/>
              </a:ext>
            </a:extLst>
          </p:cNvPr>
          <p:cNvSpPr txBox="1"/>
          <p:nvPr/>
        </p:nvSpPr>
        <p:spPr>
          <a:xfrm>
            <a:off x="250723" y="1582340"/>
            <a:ext cx="1030275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• </a:t>
            </a:r>
            <a:r>
              <a:rPr lang="en-IN" b="1" dirty="0"/>
              <a:t>Top 10 Sales contribution</a:t>
            </a:r>
            <a:r>
              <a:rPr lang="en-IN" dirty="0"/>
              <a:t>: 14.3% of total revenue</a:t>
            </a:r>
          </a:p>
          <a:p>
            <a:endParaRPr lang="en-IN" dirty="0"/>
          </a:p>
          <a:p>
            <a:r>
              <a:rPr lang="en-IN" dirty="0"/>
              <a:t>• </a:t>
            </a:r>
            <a:r>
              <a:rPr lang="en-IN" b="1" dirty="0"/>
              <a:t>Dominant product categories</a:t>
            </a:r>
            <a:r>
              <a:rPr lang="en-IN" dirty="0"/>
              <a:t>: Industrial automation and sensor-related equipment</a:t>
            </a:r>
          </a:p>
          <a:p>
            <a:endParaRPr lang="en-IN" dirty="0"/>
          </a:p>
          <a:p>
            <a:r>
              <a:rPr lang="en-IN" dirty="0"/>
              <a:t>• </a:t>
            </a:r>
            <a:r>
              <a:rPr lang="en-IN" b="1" dirty="0"/>
              <a:t>Top 3 revenue-generating products</a:t>
            </a:r>
            <a:r>
              <a:rPr lang="en-IN" dirty="0"/>
              <a:t>:</a:t>
            </a:r>
          </a:p>
          <a:p>
            <a:r>
              <a:rPr lang="en-IN" dirty="0"/>
              <a:t>Automation Controller - Industrial (48V) (~398K revenue)</a:t>
            </a:r>
          </a:p>
          <a:p>
            <a:r>
              <a:rPr lang="en-IN" dirty="0"/>
              <a:t>Sensor Module - Industrial (48V) (~396K revenue)</a:t>
            </a:r>
          </a:p>
          <a:p>
            <a:r>
              <a:rPr lang="en-IN" dirty="0"/>
              <a:t>Sensor Module - Industrial (5V) (~335K revenue)</a:t>
            </a:r>
          </a:p>
          <a:p>
            <a:endParaRPr lang="en-IN" dirty="0"/>
          </a:p>
          <a:p>
            <a:r>
              <a:rPr lang="en-IN" dirty="0"/>
              <a:t>• </a:t>
            </a:r>
            <a:r>
              <a:rPr lang="en-IN" b="1" dirty="0"/>
              <a:t>Primary revenue drivers</a:t>
            </a:r>
            <a:r>
              <a:rPr lang="en-IN" dirty="0"/>
              <a:t>: Automation controllers, sensor modules, and communication/driver circuits</a:t>
            </a:r>
          </a:p>
          <a:p>
            <a:endParaRPr lang="en-IN" dirty="0"/>
          </a:p>
          <a:p>
            <a:r>
              <a:rPr lang="en-IN" dirty="0"/>
              <a:t>• </a:t>
            </a:r>
            <a:r>
              <a:rPr lang="en-IN" b="1" dirty="0"/>
              <a:t>Market insight</a:t>
            </a:r>
            <a:r>
              <a:rPr lang="en-IN" dirty="0"/>
              <a:t>: Strong demand in industrial and IoT infrastructure markets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BCACB-9A6D-0932-6472-6A99150C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2" y="637099"/>
            <a:ext cx="3762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2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322"/>
    </mc:Choice>
    <mc:Fallback>
      <p:transition spd="slow" advTm="5032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702D31-95C9-167E-041B-ECB6F4A2EE6D}"/>
              </a:ext>
            </a:extLst>
          </p:cNvPr>
          <p:cNvSpPr txBox="1"/>
          <p:nvPr/>
        </p:nvSpPr>
        <p:spPr>
          <a:xfrm>
            <a:off x="367801" y="1720840"/>
            <a:ext cx="118241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Average Order Value (AOV)</a:t>
            </a:r>
            <a:r>
              <a:rPr lang="en-US" dirty="0"/>
              <a:t>: Approximately 17,428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Sales contribution</a:t>
            </a:r>
            <a:r>
              <a:rPr lang="en-US" dirty="0"/>
              <a:t>: Sub total of 16,243,107 accounts for 73% of total sales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Above-average transactions</a:t>
            </a:r>
            <a:r>
              <a:rPr lang="en-US" dirty="0"/>
              <a:t>: Orders exceeding the AOV threshold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Highest order value</a:t>
            </a:r>
            <a:r>
              <a:rPr lang="en-US" dirty="0"/>
              <a:t>: Maximum transaction reaches 35,424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Upper quartile</a:t>
            </a:r>
            <a:r>
              <a:rPr lang="en-US" dirty="0"/>
              <a:t>: Orders above ~20,557 indicate high-value purchases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Customer pattern</a:t>
            </a:r>
            <a:r>
              <a:rPr lang="en-US" dirty="0"/>
              <a:t>: High-value orders likely from business clients purchasing industrial components in bulk quantities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Purchase behavior</a:t>
            </a:r>
            <a:r>
              <a:rPr lang="en-US" dirty="0"/>
              <a:t>: Significant number of orders in upper quartile suggest enterprise-level buying patterns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7A587-B368-3456-D543-C28E6B95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612241"/>
            <a:ext cx="47434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63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176"/>
    </mc:Choice>
    <mc:Fallback>
      <p:transition spd="slow" advTm="6017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B1254E-2E1D-F57D-6FDC-1E5969A27952}"/>
              </a:ext>
            </a:extLst>
          </p:cNvPr>
          <p:cNvSpPr txBox="1"/>
          <p:nvPr/>
        </p:nvSpPr>
        <p:spPr>
          <a:xfrm>
            <a:off x="105033" y="1443841"/>
            <a:ext cx="1198193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Ranking methodology</a:t>
            </a:r>
            <a:r>
              <a:rPr lang="en-US" dirty="0"/>
              <a:t>: Products ranked in descending order based on total quantity ordered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Top 3 highest-demand products</a:t>
            </a:r>
            <a:r>
              <a:rPr lang="en-US" dirty="0"/>
              <a:t>:</a:t>
            </a:r>
          </a:p>
          <a:p>
            <a:r>
              <a:rPr lang="en-US" dirty="0"/>
              <a:t>Communication Module - Standard (12V) (leading demand)</a:t>
            </a:r>
          </a:p>
          <a:p>
            <a:r>
              <a:rPr lang="en-US" dirty="0"/>
              <a:t>Charging Controller - Lite (12V)</a:t>
            </a:r>
          </a:p>
          <a:p>
            <a:r>
              <a:rPr lang="en-US" dirty="0"/>
              <a:t>Power Supply Unit - Pro (48V)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Tie handling</a:t>
            </a:r>
            <a:r>
              <a:rPr lang="en-US" dirty="0"/>
              <a:t>: Products with equal quantities receive tied ranks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Demand patterns</a:t>
            </a:r>
            <a:r>
              <a:rPr lang="en-US" dirty="0"/>
              <a:t>: Communication and charging-related products show highest preference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Insight</a:t>
            </a:r>
            <a:r>
              <a:rPr lang="en-US" dirty="0"/>
              <a:t>: These categories represent key high-demand segments within the Apex Collection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Market indication</a:t>
            </a:r>
            <a:r>
              <a:rPr lang="en-US" dirty="0"/>
              <a:t>: Consumer preference heavily concentrated in communication and charging infrastructure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5DCEB-933C-B93F-E8C0-414B3543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519112"/>
            <a:ext cx="47434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18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988"/>
    </mc:Choice>
    <mc:Fallback>
      <p:transition spd="slow" advTm="6098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EDDA4-3393-43A7-969D-7C284348CA20}"/>
              </a:ext>
            </a:extLst>
          </p:cNvPr>
          <p:cNvSpPr txBox="1"/>
          <p:nvPr/>
        </p:nvSpPr>
        <p:spPr>
          <a:xfrm>
            <a:off x="0" y="1166842"/>
            <a:ext cx="125484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Customer segmentation</a:t>
            </a:r>
            <a:r>
              <a:rPr lang="en-US" dirty="0"/>
              <a:t>: Q6 customers divided into high, mid, and low-value categories based on total spending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Overall spending metrics</a:t>
            </a:r>
            <a:r>
              <a:rPr lang="en-US" dirty="0"/>
              <a:t>:             Average spending: 37,321.87                Total spending: 1,36,22,482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High-value customers</a:t>
            </a:r>
            <a:r>
              <a:rPr lang="en-US" dirty="0"/>
              <a:t>:     </a:t>
            </a:r>
          </a:p>
          <a:p>
            <a:r>
              <a:rPr lang="en-US" dirty="0"/>
              <a:t>Contribute significant share of total revenue</a:t>
            </a:r>
          </a:p>
          <a:p>
            <a:r>
              <a:rPr lang="en-US" dirty="0"/>
              <a:t>Key focus for retention strategies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Low-value customers</a:t>
            </a:r>
            <a:r>
              <a:rPr lang="en-US" dirty="0"/>
              <a:t>:    Form the majority of customer base</a:t>
            </a:r>
          </a:p>
          <a:p>
            <a:r>
              <a:rPr lang="en-US" dirty="0"/>
              <a:t>Average spending: 6,411.85</a:t>
            </a:r>
          </a:p>
          <a:p>
            <a:r>
              <a:rPr lang="en-US" dirty="0"/>
              <a:t>Total count: 23,33,912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Strategic opportunity</a:t>
            </a:r>
            <a:r>
              <a:rPr lang="en-US" dirty="0"/>
              <a:t>: Focus on retaining high-value customers while converting low-value customers into higher spenders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Growth potential</a:t>
            </a:r>
            <a:r>
              <a:rPr lang="en-US" dirty="0"/>
              <a:t>: Upselling and cross-selling opportunities within the low-value segment to increase their average order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DEEFA-9C89-E30F-D4D5-5F0CEDACA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5" y="474867"/>
            <a:ext cx="40957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89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048"/>
    </mc:Choice>
    <mc:Fallback>
      <p:transition spd="slow" advTm="5504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AD546-BA58-9179-EB37-7DE93077254D}"/>
              </a:ext>
            </a:extLst>
          </p:cNvPr>
          <p:cNvSpPr txBox="1"/>
          <p:nvPr/>
        </p:nvSpPr>
        <p:spPr>
          <a:xfrm>
            <a:off x="181897" y="1443841"/>
            <a:ext cx="118282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Order composition varies widely</a:t>
            </a:r>
            <a:r>
              <a:rPr lang="en-US" dirty="0"/>
              <a:t>: Number of products per order ranges from single items to multi-item purchases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Diverse buying behavior</a:t>
            </a:r>
            <a:r>
              <a:rPr lang="en-US" dirty="0"/>
              <a:t>: Customers show different purchasing patterns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Minimal purchasers</a:t>
            </a:r>
            <a:r>
              <a:rPr lang="en-US" dirty="0"/>
              <a:t>: Some customers prefer buying single products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Bulk buyers</a:t>
            </a:r>
            <a:r>
              <a:rPr lang="en-US" dirty="0"/>
              <a:t>: Other customers tend to purchase multiple items in one order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Strategic opportunities</a:t>
            </a:r>
            <a:r>
              <a:rPr lang="en-US" dirty="0"/>
              <a:t>: Diverse order patterns create opportunities for:</a:t>
            </a:r>
          </a:p>
          <a:p>
            <a:r>
              <a:rPr lang="en-US" dirty="0"/>
              <a:t>Product bundling strategies</a:t>
            </a:r>
          </a:p>
          <a:p>
            <a:r>
              <a:rPr lang="en-US" dirty="0"/>
              <a:t>Cross-selling initiatives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Customer segmentation insight</a:t>
            </a:r>
            <a:r>
              <a:rPr lang="en-US" dirty="0"/>
              <a:t>: Order size can be used to identify and target different customer types with appropriate marketing approaches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AFC4C-9D9D-ADDC-0113-0D843A225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4" y="533860"/>
            <a:ext cx="33337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93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46"/>
    </mc:Choice>
    <mc:Fallback>
      <p:transition spd="slow" advTm="3144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83C386-703A-E78C-C557-5612F58514E6}"/>
              </a:ext>
            </a:extLst>
          </p:cNvPr>
          <p:cNvSpPr txBox="1"/>
          <p:nvPr/>
        </p:nvSpPr>
        <p:spPr>
          <a:xfrm>
            <a:off x="339213" y="1166842"/>
            <a:ext cx="93145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 </a:t>
            </a:r>
            <a:r>
              <a:rPr lang="en-US" b="1" dirty="0"/>
              <a:t>Order linking</a:t>
            </a:r>
            <a:r>
              <a:rPr lang="en-US" dirty="0"/>
              <a:t>: Each order is connected to its previous and next order dates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Boundary conditions</a:t>
            </a:r>
            <a:r>
              <a:rPr lang="en-US" dirty="0"/>
              <a:t>:</a:t>
            </a:r>
          </a:p>
          <a:p>
            <a:r>
              <a:rPr lang="en-US" dirty="0"/>
              <a:t>First order has no previous date</a:t>
            </a:r>
          </a:p>
          <a:p>
            <a:r>
              <a:rPr lang="en-US" dirty="0"/>
              <a:t>Last order has no next date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Purchase tracking capabilities</a:t>
            </a:r>
            <a:r>
              <a:rPr lang="en-US" dirty="0"/>
              <a:t>:</a:t>
            </a:r>
          </a:p>
          <a:p>
            <a:r>
              <a:rPr lang="en-US" dirty="0"/>
              <a:t>Purchase frequency monitoring</a:t>
            </a:r>
          </a:p>
          <a:p>
            <a:r>
              <a:rPr lang="en-US" dirty="0"/>
              <a:t>Gap analysis between orders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Pattern identification</a:t>
            </a:r>
            <a:r>
              <a:rPr lang="en-US" dirty="0"/>
              <a:t>: Enables identification of repeat buying behaviors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Retention opportunities</a:t>
            </a:r>
            <a:r>
              <a:rPr lang="en-US" dirty="0"/>
              <a:t>: Data supports customer retention initiatives and timing strategies</a:t>
            </a:r>
          </a:p>
          <a:p>
            <a:endParaRPr lang="en-US" dirty="0"/>
          </a:p>
          <a:p>
            <a:r>
              <a:rPr lang="en-US" dirty="0"/>
              <a:t>• </a:t>
            </a:r>
            <a:r>
              <a:rPr lang="en-US" b="1" dirty="0"/>
              <a:t>Behavioral insights</a:t>
            </a:r>
            <a:r>
              <a:rPr lang="en-US" dirty="0"/>
              <a:t>: Purchase timeline helps understand customer buying cycles and habits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3FDDF-3E67-E13D-361F-4118E8E30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445370"/>
            <a:ext cx="713422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90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562"/>
    </mc:Choice>
    <mc:Fallback>
      <p:transition spd="slow" advTm="62562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668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ii8jd</dc:creator>
  <cp:lastModifiedBy>ii8jd</cp:lastModifiedBy>
  <cp:revision>37</cp:revision>
  <dcterms:created xsi:type="dcterms:W3CDTF">2026-05-04T19:24:56Z</dcterms:created>
  <dcterms:modified xsi:type="dcterms:W3CDTF">2026-05-07T07:40:58Z</dcterms:modified>
</cp:coreProperties>
</file>